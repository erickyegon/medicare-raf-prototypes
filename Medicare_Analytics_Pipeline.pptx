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65A8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65A82"/>
                </a:solidFill>
                <a:latin typeface="Arial"/>
              </a:rPr>
              <a:t>ATT by Risk Tier ($ per member)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Reduction per Member ($)</c:v>
                </c:pt>
              </c:strCache>
            </c:strRef>
          </c:tx>
          <c:spPr>
            <a:solidFill>
              <a:srgbClr val="85C1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5C1E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1B2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Low Risk</c:v>
                  </c:pt>
                  <c:pt idx="1">
                    <c:v>Moderate Risk</c:v>
                  </c:pt>
                  <c:pt idx="2">
                    <c:v>High Risk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118</c:v>
                </c:pt>
                <c:pt idx="1">
                  <c:v>312</c:v>
                </c:pt>
                <c:pt idx="2">
                  <c:v>748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3017520" cy="256032"/>
          </a:xfrm>
          <a:prstGeom prst="rect">
            <a:avLst>
              <a:gd name="adj" fmla="val 1428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2976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CLINICAL PERFORMANCE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Value-Based Care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D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Pipeline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HCC/RAF Risk Adjustment  ·  Clinical Risk Stratification  ·  Causal Attribution of Shared Savings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017520"/>
            <a:ext cx="192024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063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50,000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Beneficiaries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3017520"/>
            <a:ext cx="192024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0320" y="3063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91.5%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60320" y="3429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Tier Accuracy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192024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3063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−$391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63440" y="3429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ATT per Member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3017520"/>
            <a:ext cx="192024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3063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$4.9M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66560" y="3429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Shared Savings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3C8"/>
                </a:solidFill>
              </a:rPr>
              <a:t>Erick K. Yegon, PhD  ·  Epidemiologist &amp; Data Science Leader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462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github.com/erickyegon/medicare-raf-prototypes  ·  linkedin.com/in/erickyegon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FB3C8"/>
                </a:solidFill>
              </a:rPr>
              <a:t>THE CORE QUESTION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4DA6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2801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DA6C8"/>
                </a:solidFill>
              </a:rPr>
              <a:t>"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Did our clinical programme reduce total cost of care —</a:t>
            </a:r>
            <a:endParaRPr lang="en-US" sz="4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and by exactly how much does that translate to shared savings?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4DA6C8"/>
                </a:solidFill>
              </a:rPr>
              <a:t>"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3C8"/>
                </a:solidFill>
              </a:rPr>
              <a:t>Answering this rigorously requires three capabilities working together: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2606040" cy="1508760"/>
          </a:xfrm>
          <a:prstGeom prst="rect">
            <a:avLst/>
          </a:prstGeom>
          <a:solidFill>
            <a:srgbClr val="2C3E50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3246120"/>
            <a:ext cx="260604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401568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341985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Risk Adjustment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382219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3C8"/>
                </a:solidFill>
              </a:rPr>
              <a:t>Compare like with like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B3C8"/>
                </a:solidFill>
              </a:rPr>
              <a:t>across diverse beneficiaries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3246120"/>
            <a:ext cx="2606040" cy="1508760"/>
          </a:xfrm>
          <a:prstGeom prst="rect">
            <a:avLst/>
          </a:prstGeom>
          <a:solidFill>
            <a:srgbClr val="2C3E50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3246120"/>
            <a:ext cx="260604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3401568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86200" y="341985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Risk Stratification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29000" y="382219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3C8"/>
                </a:solidFill>
              </a:rPr>
              <a:t>Identify high-risk patients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B3C8"/>
                </a:solidFill>
              </a:rPr>
              <a:t>before costs accumulate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3246120"/>
            <a:ext cx="2606040" cy="1508760"/>
          </a:xfrm>
          <a:prstGeom prst="rect">
            <a:avLst/>
          </a:prstGeom>
          <a:solidFill>
            <a:srgbClr val="2C3E50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3246120"/>
            <a:ext cx="260604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401568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20840" y="341985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Causal Attribution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63640" y="382219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3C8"/>
                </a:solidFill>
              </a:rPr>
              <a:t>Separate intervention effect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B3C8"/>
                </a:solidFill>
              </a:rPr>
              <a:t>from secular trends &amp; bias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The US Value-Based Care Landscape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4DA6C8"/>
          </a:solidFill>
          <a:ln w="12700">
            <a:solidFill>
              <a:srgbClr val="4DA6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840480" cy="777240"/>
          </a:xfrm>
          <a:prstGeom prst="rect">
            <a:avLst/>
          </a:prstGeom>
          <a:solidFill>
            <a:srgbClr val="D6EAF8"/>
          </a:solidFill>
          <a:ln w="12700">
            <a:solidFill>
              <a:srgbClr val="4DA6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155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</a:rPr>
              <a:t>$1.1T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783080" y="12527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Medicare annual spend (2023)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840480" cy="777240"/>
          </a:xfrm>
          <a:prstGeom prst="rect">
            <a:avLst/>
          </a:prstGeom>
          <a:solidFill>
            <a:srgbClr val="D6EAF8"/>
          </a:solidFill>
          <a:ln w="12700">
            <a:solidFill>
              <a:srgbClr val="4DA6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07568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</a:rPr>
              <a:t>13M+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22128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beneficiaries in ACO programmes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3840480" cy="777240"/>
          </a:xfrm>
          <a:prstGeom prst="rect">
            <a:avLst/>
          </a:prstGeom>
          <a:solidFill>
            <a:srgbClr val="D6EAF8"/>
          </a:solidFill>
          <a:ln w="12700">
            <a:solidFill>
              <a:srgbClr val="4DA6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0358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</a:rPr>
              <a:t>$2.4B+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783080" y="31729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shared savings distributed (2022 MSSP)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3840480" cy="777240"/>
          </a:xfrm>
          <a:prstGeom prst="rect">
            <a:avLst/>
          </a:prstGeom>
          <a:solidFill>
            <a:srgbClr val="D6EAF8"/>
          </a:solidFill>
          <a:ln w="12700">
            <a:solidFill>
              <a:srgbClr val="4DA6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99592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</a:rPr>
              <a:t>30%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783080" y="41330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of Medicare FFS now in value-based models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4023360" cy="3749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C8"/>
                </a:solidFill>
              </a:rPr>
              <a:t>The Analytics Imperative</a:t>
            </a:r>
            <a:endParaRPr lang="en-US" sz="14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664208"/>
            <a:ext cx="228600" cy="2286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120640" y="162763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ACO REACH and MSSP programmes pay for performance, not volume — organisations that reduce total cost of care share in the savings</a:t>
            </a:r>
            <a:endParaRPr lang="en-US" sz="10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414016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120640" y="237744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Risk adjustment is the foundation: without accurate RAF scores, benchmarks are meaningless and savings calculations misleading</a:t>
            </a:r>
            <a:endParaRPr lang="en-US" sz="10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163824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20640" y="3127248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Causal inference separates genuine programme impact from secular trends, patient mix changes, and regression to the mean</a:t>
            </a:r>
            <a:endParaRPr lang="en-US" sz="10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913632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20640" y="3877056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Analytics leaders who can bridge clinical evidence and financial performance attribution are the rarest — and most valued — capability in VBC organisations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Architecture: Four Analytical Stages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4DA6C8"/>
          </a:solidFill>
          <a:ln w="12700">
            <a:solidFill>
              <a:srgbClr val="4DA6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196596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170432"/>
            <a:ext cx="685800" cy="685800"/>
          </a:xfrm>
          <a:prstGeom prst="rect">
            <a:avLst/>
          </a:prstGeom>
          <a:solidFill>
            <a:srgbClr val="4DA6C8"/>
          </a:solidFill>
          <a:ln w="12700">
            <a:solidFill>
              <a:srgbClr val="4DA6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188720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01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0574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697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FOUNDATION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32004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B3C8"/>
                </a:solidFill>
              </a:rPr>
              <a:t>50k synthetic beneficiaries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FB3C8"/>
                </a:solidFill>
              </a:rPr>
              <a:t>CMS SynPUF structure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350008" y="2715768"/>
            <a:ext cx="164592" cy="54864"/>
          </a:xfrm>
          <a:prstGeom prst="rect">
            <a:avLst/>
          </a:prstGeom>
          <a:solidFill>
            <a:srgbClr val="4DA6C8"/>
          </a:solidFill>
          <a:ln w="12700">
            <a:solidFill>
              <a:srgbClr val="4DA6C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95728" y="259689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DA6C8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3474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82112" y="1170432"/>
            <a:ext cx="685800" cy="685800"/>
          </a:xfrm>
          <a:prstGeom prst="rect">
            <a:avLst/>
          </a:prstGeom>
          <a:solidFill>
            <a:srgbClr val="4DA6C8"/>
          </a:solidFill>
          <a:ln w="12700">
            <a:solidFill>
              <a:srgbClr val="4DA6C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82112" y="1188720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02</a:t>
            </a:r>
            <a:endParaRPr lang="en-US" sz="2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205740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633472" y="2697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HCC / RAF SCORING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633472" y="32004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B3C8"/>
                </a:solidFill>
              </a:rPr>
              <a:t>ICD-10 → CMS v28 HCC map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FB3C8"/>
                </a:solidFill>
              </a:rPr>
              <a:t>RAF score per beneficiary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526280" y="2715768"/>
            <a:ext cx="164592" cy="54864"/>
          </a:xfrm>
          <a:prstGeom prst="rect">
            <a:avLst/>
          </a:prstGeom>
          <a:solidFill>
            <a:srgbClr val="4DA6C8"/>
          </a:solidFill>
          <a:ln w="12700">
            <a:solidFill>
              <a:srgbClr val="4DA6C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72000" y="259689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DA6C8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4718304" y="1051560"/>
            <a:ext cx="1965960" cy="3474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358384" y="1170432"/>
            <a:ext cx="685800" cy="685800"/>
          </a:xfrm>
          <a:prstGeom prst="rect">
            <a:avLst/>
          </a:prstGeom>
          <a:solidFill>
            <a:srgbClr val="4DA6C8"/>
          </a:solidFill>
          <a:ln w="12700">
            <a:solidFill>
              <a:srgbClr val="4DA6C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358384" y="1188720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03</a:t>
            </a:r>
            <a:endParaRPr lang="en-US" sz="22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205740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809744" y="2697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RISK STRATIFICATION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809744" y="32004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B3C8"/>
                </a:solidFill>
              </a:rPr>
              <a:t>XGBoost classifier + regressor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FB3C8"/>
                </a:solidFill>
              </a:rPr>
              <a:t>91.5% tier accuracy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702552" y="2715768"/>
            <a:ext cx="164592" cy="54864"/>
          </a:xfrm>
          <a:prstGeom prst="rect">
            <a:avLst/>
          </a:prstGeom>
          <a:solidFill>
            <a:srgbClr val="4DA6C8"/>
          </a:solidFill>
          <a:ln w="12700">
            <a:solidFill>
              <a:srgbClr val="4DA6C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748272" y="259689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DA6C8"/>
                </a:solidFill>
              </a:rPr>
              <a:t>▶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6894576" y="1051560"/>
            <a:ext cx="1965960" cy="34747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534656" y="1170432"/>
            <a:ext cx="685800" cy="685800"/>
          </a:xfrm>
          <a:prstGeom prst="rect">
            <a:avLst/>
          </a:prstGeom>
          <a:solidFill>
            <a:srgbClr val="4DA6C8"/>
          </a:solidFill>
          <a:ln w="12700">
            <a:solidFill>
              <a:srgbClr val="4DA6C8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534656" y="1188720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04</a:t>
            </a:r>
            <a:endParaRPr lang="en-US" sz="22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384" y="2057400"/>
            <a:ext cx="457200" cy="4572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986016" y="2697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CAUSAL ATTRIBUTION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6986016" y="32004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B3C8"/>
                </a:solidFill>
              </a:rPr>
              <a:t>DiD + PSM · Shared savings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FB3C8"/>
                </a:solidFill>
              </a:rPr>
              <a:t>$4.9M MSSP projection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3200400" y="4617720"/>
            <a:ext cx="274320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4DA6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29"/>
          <p:cNvSpPr/>
          <p:nvPr/>
        </p:nvSpPr>
        <p:spPr>
          <a:xfrm>
            <a:off x="3200400" y="4636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⚡  End-to-end runtime: 29 seconds  ·  50,000 beneficiaries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Foundation: Synthetic Medicare Beneficiary Cohort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4DA6C8"/>
          </a:solidFill>
          <a:ln w="12700">
            <a:solidFill>
              <a:srgbClr val="4DA6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114800" cy="548640"/>
          </a:xfrm>
          <a:prstGeom prst="rect">
            <a:avLst/>
          </a:prstGeom>
          <a:solidFill>
            <a:srgbClr val="D6EAF8"/>
          </a:solidFill>
          <a:ln w="12700">
            <a:solidFill>
              <a:srgbClr val="4DA6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43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50,000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965960" y="1188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Total beneficiaries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00784"/>
            <a:ext cx="4114800" cy="548640"/>
          </a:xfrm>
          <a:prstGeom prst="rect">
            <a:avLst/>
          </a:prstGeom>
          <a:solidFill>
            <a:srgbClr val="D6EAF8"/>
          </a:solidFill>
          <a:ln w="12700">
            <a:solidFill>
              <a:srgbClr val="4DA6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922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100,000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65960" y="18379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Bene-year records (2-year panel)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50008"/>
            <a:ext cx="4114800" cy="548640"/>
          </a:xfrm>
          <a:prstGeom prst="rect">
            <a:avLst/>
          </a:prstGeom>
          <a:solidFill>
            <a:srgbClr val="D6EAF8"/>
          </a:solidFill>
          <a:ln w="12700">
            <a:solidFill>
              <a:srgbClr val="4DA6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441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24,979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965960" y="2487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Intervention arm (50.0%)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99232"/>
            <a:ext cx="4114800" cy="548640"/>
          </a:xfrm>
          <a:prstGeom prst="rect">
            <a:avLst/>
          </a:prstGeom>
          <a:solidFill>
            <a:srgbClr val="EAF4F4"/>
          </a:solidFill>
          <a:ln w="12700">
            <a:solidFill>
              <a:srgbClr val="C5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0906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10,432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65960" y="3136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High-risk tier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48456"/>
            <a:ext cx="4114800" cy="548640"/>
          </a:xfrm>
          <a:prstGeom prst="rect">
            <a:avLst/>
          </a:prstGeom>
          <a:solidFill>
            <a:srgbClr val="EAF4F4"/>
          </a:solidFill>
          <a:ln w="12700">
            <a:solidFill>
              <a:srgbClr val="C5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7398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17,458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965960" y="37856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Moderate-risk tier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4114800" cy="548640"/>
          </a:xfrm>
          <a:prstGeom prst="rect">
            <a:avLst/>
          </a:prstGeom>
          <a:solidFill>
            <a:srgbClr val="EAF4F4"/>
          </a:solidFill>
          <a:ln w="12700">
            <a:solidFill>
              <a:srgbClr val="C5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4389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22,110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965960" y="4434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Low-risk tier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1005840"/>
            <a:ext cx="3840480" cy="3794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0" y="11155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A6C8"/>
                </a:solidFill>
              </a:rPr>
              <a:t>Cohort Variables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0" y="157276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6C8"/>
                </a:solidFill>
              </a:rPr>
              <a:t>Demographics: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15727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Age (65–97), sex, race/ethnicity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197510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6C8"/>
                </a:solidFill>
              </a:rPr>
              <a:t>Insurance: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197510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Plan type (HMO/PPO/PFFS/SNP)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237744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6C8"/>
                </a:solidFill>
              </a:rPr>
              <a:t>Socioeconomic: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23774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Dual Medicare-Medicaid eligibility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277977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6C8"/>
                </a:solidFill>
              </a:rPr>
              <a:t>Clinical: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277977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ICD-10 diagnosis codes (multi-code)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318211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6C8"/>
                </a:solidFill>
              </a:rPr>
              <a:t>Geography: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31821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County FIPS (10-county ACO)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0" y="35844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6C8"/>
                </a:solidFill>
              </a:rPr>
              <a:t>Utilisation: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35844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IP admits, ED visits (pre + post)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0" y="398678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6C8"/>
                </a:solidFill>
              </a:rPr>
              <a:t>Intervention: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92240" y="398678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Binary treatment assignment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0" y="43891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6C8"/>
                </a:solidFill>
              </a:rPr>
              <a:t>Costs: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0" y="43891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Annual cost w/ secular trend + causal effect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B3C8"/>
                </a:solidFill>
              </a:rPr>
              <a:t>★  Synthetic data only — no PHI used anywhere in this repository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B3C8"/>
                </a:solidFill>
              </a:rPr>
              <a:t>STAGE 1 · HCC/RAF RISK ADJUSTMENT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2C3E50"/>
          </a:solidFill>
          <a:ln w="12700">
            <a:solidFill>
              <a:srgbClr val="4DA6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6187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RAF Score  =  Demographic Coefficient  +  Σ HCC Coefficients  +  Interaction Terms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2606040" cy="2560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240280"/>
            <a:ext cx="26060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860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Demographic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78892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1248" y="27614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Age-sex bands (65–69 through 90+)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38328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1248" y="33558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Community non-dual aged segment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97764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1248" y="39502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Example: 76F = 0.453 coefficient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291840" y="2240280"/>
            <a:ext cx="2606040" cy="2560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3291840" y="2240280"/>
            <a:ext cx="26060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383280" y="22860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HCC Conditions</a:t>
            </a:r>
            <a:endParaRPr lang="en-US" sz="1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788920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675888" y="27614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50+ ICD-10 → HCC mappings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568" y="3383280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675888" y="33558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CHF +0.323  ·  AFib +0.421</a:t>
            </a:r>
            <a:endParaRPr lang="en-US" sz="1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1568" y="3977640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675888" y="39502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Metastatic cancer +2.488  ·  CKD +0.071–0.289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6126480" y="2240280"/>
            <a:ext cx="2606040" cy="2560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6126480" y="2240280"/>
            <a:ext cx="26060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6217920" y="22860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Interactions</a:t>
            </a:r>
            <a:endParaRPr lang="en-US" sz="12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2788920"/>
            <a:ext cx="201168" cy="20116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510528" y="27614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CHF × AFib: +0.175</a:t>
            </a:r>
            <a:endParaRPr lang="en-US" sz="10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6208" y="3383280"/>
            <a:ext cx="201168" cy="20116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510528" y="33558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CHF × Diabetes: +0.121</a:t>
            </a:r>
            <a:endParaRPr lang="en-US" sz="10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208" y="3977640"/>
            <a:ext cx="201168" cy="20116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510528" y="39502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ESRD × CHF: +0.312  ←  highest</a:t>
            </a:r>
            <a:endParaRPr lang="en-US" sz="1000" dirty="0"/>
          </a:p>
        </p:txBody>
      </p:sp>
      <p:sp>
        <p:nvSpPr>
          <p:cNvPr id="33" name="Shape 22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23"/>
          <p:cNvSpPr/>
          <p:nvPr/>
        </p:nvSpPr>
        <p:spPr>
          <a:xfrm>
            <a:off x="457200" y="483717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</a:rPr>
              <a:t>PMPM cost estimate:  Cost = RAF × $9,800  (2023 Medicare FFS baseline)   ·   RAF = 1.0 represents the average beneficiary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 in Practice: Complex Patient Walkthrough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4DA6C8"/>
          </a:solidFill>
          <a:ln w="12700">
            <a:solidFill>
              <a:srgbClr val="4DA6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657600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1556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1155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A6C8"/>
                </a:solidFill>
              </a:rPr>
              <a:t>Patient Profile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53619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76-year-old female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CHF  ·  Atrial Fibrillation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Type 2 Diabetes with CKD Stage 4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42032"/>
          <a:ext cx="4206240" cy="2423160"/>
        </p:xfrm>
        <a:graphic>
          <a:graphicData uri="http://schemas.openxmlformats.org/drawingml/2006/table">
            <a:tbl>
              <a:tblPr/>
              <a:tblGrid>
                <a:gridCol w="1920240"/>
                <a:gridCol w="685800"/>
                <a:gridCol w="685800"/>
                <a:gridCol w="914400"/>
              </a:tblGrid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ICD-10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 (76F, community)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Congestive Heart Failure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HCC 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Atrial Fibrillation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I481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HCC 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T2DM w/ Chronic Complications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E1141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HCC 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CKD Stage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N184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HCC 137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CHF × AFib interaction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RAF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846320" y="1005840"/>
            <a:ext cx="3840480" cy="2240280"/>
          </a:xfrm>
          <a:prstGeom prst="rect">
            <a:avLst/>
          </a:prstGeom>
          <a:solidFill>
            <a:srgbClr val="0D1B2A"/>
          </a:solidFill>
          <a:ln w="12700">
            <a:solidFill>
              <a:srgbClr val="4DA6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029200" y="11155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A6C8"/>
                </a:solidFill>
              </a:rPr>
              <a:t>Risk Score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029200" y="15087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1.812</a:t>
            </a:r>
            <a:endParaRPr lang="en-US" sz="5200" dirty="0"/>
          </a:p>
        </p:txBody>
      </p:sp>
      <p:sp>
        <p:nvSpPr>
          <p:cNvPr id="12" name="Text 8"/>
          <p:cNvSpPr/>
          <p:nvPr/>
        </p:nvSpPr>
        <p:spPr>
          <a:xfrm>
            <a:off x="502920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B3C8"/>
                </a:solidFill>
              </a:rPr>
              <a:t>1.81× the average Medicare beneficiary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029200" y="2670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B3C8"/>
                </a:solidFill>
              </a:rPr>
              <a:t>Estimated annual cost: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029200" y="2926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500"/>
                </a:solidFill>
              </a:rPr>
              <a:t>$17,758 / year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4846320" y="3493008"/>
            <a:ext cx="3840480" cy="1280160"/>
          </a:xfrm>
          <a:prstGeom prst="rect">
            <a:avLst/>
          </a:prstGeom>
          <a:solidFill>
            <a:srgbClr val="2C3E50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029200" y="36118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A6C8"/>
                </a:solidFill>
              </a:rPr>
              <a:t>Why interactions matter: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029200" y="3913632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Without the CHF × AFib interaction term (+0.175), this patient's RAF would be 1.637 — understating expected cost by $1,715/year and skewing the shared savings benchmark.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 Scoring Results: 50,000 Beneficiary Cohort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4DA6C8"/>
          </a:solidFill>
          <a:ln w="12700">
            <a:solidFill>
              <a:srgbClr val="4DA6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192024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15568"/>
            <a:ext cx="192024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2.131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552651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AF8"/>
                </a:solidFill>
              </a:rPr>
              <a:t>Mean RAF Score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6057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C8"/>
                </a:solidFill>
              </a:rPr>
              <a:t>vs 1.0 national average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42032" y="1005840"/>
            <a:ext cx="1920240" cy="1051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42032" y="1115568"/>
            <a:ext cx="192024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1.505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42032" y="1552651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AF8"/>
                </a:solidFill>
              </a:rPr>
              <a:t>Median RAF Score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42032" y="1826057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C8"/>
                </a:solidFill>
              </a:rPr>
              <a:t>right-skewed distribution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18304" y="1005840"/>
            <a:ext cx="1920240" cy="10515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18304" y="1115568"/>
            <a:ext cx="192024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4.585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718304" y="1552651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AF8"/>
                </a:solidFill>
              </a:rPr>
              <a:t>90th Percentile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18304" y="1826057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C8"/>
                </a:solidFill>
              </a:rPr>
              <a:t>high-complexity patients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94576" y="1005840"/>
            <a:ext cx="1920240" cy="1051560"/>
          </a:xfrm>
          <a:prstGeom prst="rect">
            <a:avLst/>
          </a:prstGeom>
          <a:solidFill>
            <a:srgbClr val="8B2500"/>
          </a:solidFill>
          <a:ln w="12700">
            <a:solidFill>
              <a:srgbClr val="8B2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94576" y="1115568"/>
            <a:ext cx="192024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40.4%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894576" y="1552651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AF8"/>
                </a:solidFill>
              </a:rPr>
              <a:t>Beneficiaries RAF&gt;2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94576" y="1826057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C8"/>
                </a:solidFill>
              </a:rPr>
              <a:t>high-cost population</a:t>
            </a:r>
            <a:endParaRPr lang="en-US" sz="9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84832"/>
            <a:ext cx="8595360" cy="27889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A82"/>
                </a:solidFill>
              </a:rPr>
              <a:t>Total estimated portfolio cost:  $1.044 Billion  across 50,000 beneficiaries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B3C8"/>
                </a:solidFill>
              </a:rPr>
              <a:t>STAGE 2 · CLINICAL RISK STRATIFICATION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2C3E50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4754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16128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1704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XGBoost Classifier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783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6C8"/>
                </a:solidFill>
              </a:rPr>
              <a:t>Purpose: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920240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B3C8"/>
                </a:solidFill>
              </a:rPr>
              <a:t>Risk Tier Prediction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0080" y="24688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6C8"/>
                </a:solidFill>
              </a:rPr>
              <a:t>Target: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920240" y="2468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B3C8"/>
                </a:solidFill>
              </a:rPr>
              <a:t>High / Moderate / Low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3154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6C8"/>
                </a:solidFill>
              </a:rPr>
              <a:t>Business use: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920240" y="3154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B3C8"/>
                </a:solidFill>
              </a:rPr>
              <a:t>Care management prioritisation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B3C8"/>
                </a:solidFill>
              </a:rPr>
              <a:t>Outreach list generation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40080" y="3840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6C8"/>
                </a:solidFill>
              </a:rPr>
              <a:t>Result: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920240" y="3840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B3C8"/>
                </a:solidFill>
              </a:rPr>
              <a:t>91.5% tier accuracy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800600" y="1097280"/>
            <a:ext cx="3931920" cy="3657600"/>
          </a:xfrm>
          <a:prstGeom prst="rect">
            <a:avLst/>
          </a:prstGeom>
          <a:solidFill>
            <a:srgbClr val="2C3E50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00600" y="1097280"/>
            <a:ext cx="3931920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161288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94960" y="11704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XGBoost Regressor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983480" y="1783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D0C4"/>
                </a:solidFill>
              </a:rPr>
              <a:t>Purpose: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263640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B3C8"/>
                </a:solidFill>
              </a:rPr>
              <a:t>Annual Cost Prediction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983480" y="24688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D0C4"/>
                </a:solidFill>
              </a:rPr>
              <a:t>Target: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263640" y="2468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B3C8"/>
                </a:solidFill>
              </a:rPr>
              <a:t>Continuous $ estimate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983480" y="3154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D0C4"/>
                </a:solidFill>
              </a:rPr>
              <a:t>Business use: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263640" y="3154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B3C8"/>
                </a:solidFill>
              </a:rPr>
              <a:t>Benchmark setting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B3C8"/>
                </a:solidFill>
              </a:rPr>
              <a:t>Budget forecasting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983480" y="3840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D0C4"/>
                </a:solidFill>
              </a:rPr>
              <a:t>Result: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263640" y="3840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B3C8"/>
                </a:solidFill>
              </a:rPr>
              <a:t>MAE $2,181  ·  R² 0.450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57200" y="481888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</a:rPr>
              <a:t>Features: 22 HCC flags  ·  RAF score components  ·  disease interactions  ·  age/sex/dual eligibility  ·  HCC count aggregate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Stratification Model: Performance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4DA6C8"/>
          </a:solidFill>
          <a:ln w="12700">
            <a:solidFill>
              <a:srgbClr val="4DA6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56032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61288"/>
            <a:ext cx="256032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91.5%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598371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AF8"/>
                </a:solidFill>
              </a:rPr>
              <a:t>Tier Accuracy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71777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C8"/>
                </a:solidFill>
              </a:rPr>
              <a:t>Train N=40,000 · Test N=10,000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560320" cy="1051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161288"/>
            <a:ext cx="256032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$2,181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46120" y="1598371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AF8"/>
                </a:solidFill>
              </a:rPr>
              <a:t>Cost Prediction MAE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1871777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C8"/>
                </a:solidFill>
              </a:rPr>
              <a:t>Mean absolute error, annual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560320" cy="10515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161288"/>
            <a:ext cx="256032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0.450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26480" y="1598371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AF8"/>
                </a:solidFill>
              </a:rPr>
              <a:t>Cost R²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1871777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C8"/>
                </a:solidFill>
              </a:rPr>
              <a:t>Variance explained</a:t>
            </a:r>
            <a:endParaRPr lang="en-US" sz="9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993392"/>
            <a:ext cx="4343400" cy="2971800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993392"/>
            <a:ext cx="4343400" cy="29718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74320" y="4965192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FB3C8"/>
                </a:solidFill>
              </a:rPr>
              <a:t>Feature Importance (XGBoost Gain)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617720" y="4965192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FB3C8"/>
                </a:solidFill>
              </a:rPr>
              <a:t>Predicted vs Actual Annual Cost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B3C8"/>
                </a:solidFill>
              </a:rPr>
              <a:t>STAGE 3 · CAUSAL ATTRIBUTION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658368"/>
          </a:xfrm>
          <a:prstGeom prst="rect">
            <a:avLst/>
          </a:prstGeom>
          <a:solidFill>
            <a:srgbClr val="2C3E5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⚠  The naive comparison problem: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38988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Post-period treated cost &lt; post-period control cost  ≠  causal effect.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Selection bias, secular trends, and regression to the mean all confound simple pre-post or treated-vs-control comparisons.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5074920" cy="2651760"/>
          </a:xfrm>
          <a:prstGeom prst="rect">
            <a:avLst/>
          </a:prstGeom>
          <a:solidFill>
            <a:srgbClr val="0D1B2A"/>
          </a:solidFill>
          <a:ln w="12700">
            <a:solidFill>
              <a:srgbClr val="4DA6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20240"/>
            <a:ext cx="50749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65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Difference-in-Differences (Primary)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4505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A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Cost_it = α + β₁·Post_t + β₂·Treat_i + β₃·(Post_t × Treat_i) + γ·X_i + ε_it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9443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</a:rPr>
              <a:t>β₃  =  ATT  =  causal cost reduction attributable to the intervention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401568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68680" y="3383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B3C8"/>
                </a:solidFill>
              </a:rPr>
              <a:t>Clustered standard errors at beneficiary level</a:t>
            </a:r>
            <a:endParaRPr lang="en-US" sz="10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785616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68680" y="37673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B3C8"/>
                </a:solidFill>
              </a:rPr>
              <a:t>Covariates: age, dual eligibility</a:t>
            </a:r>
            <a:endParaRPr lang="en-US" sz="10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169664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680" y="41513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B3C8"/>
                </a:solidFill>
              </a:rPr>
              <a:t>Parallel trends assumption validated (p = 0.582)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760720" y="1920240"/>
            <a:ext cx="2926080" cy="2651760"/>
          </a:xfrm>
          <a:prstGeom prst="rect">
            <a:avLst/>
          </a:prstGeom>
          <a:solidFill>
            <a:srgbClr val="0D1B2A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760720" y="1920240"/>
            <a:ext cx="292608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897880" y="1965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PSM Sensitivity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897880" y="24505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·  1:1 nearest-neighbour matching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897880" y="279806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·  Caliper: 0.05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897880" y="314553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·  PS from logistic regression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897880" y="34930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·  24,979 matched pairs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5897880" y="3840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·  Post-match SMD: 0.000 ✓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897880" y="41879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·  Target: DiD &amp; PSM converge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Attribution: Difference-in-Differences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4DA6C8"/>
          </a:solidFill>
          <a:ln w="12700">
            <a:solidFill>
              <a:srgbClr val="4DA6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24128"/>
            <a:ext cx="3840480" cy="1874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155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7FB3C8"/>
                </a:solidFill>
              </a:rPr>
              <a:t>ATT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444752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−$391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22311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B3C8"/>
                </a:solidFill>
              </a:rPr>
              <a:t>per member per year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532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A6C8"/>
                </a:solidFill>
              </a:rPr>
              <a:t>p &lt; 0.0001  ·  95% CI: [−$439, −$344]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005840"/>
            <a:ext cx="4434840" cy="2743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5760" y="3840480"/>
            <a:ext cx="2697480" cy="1005840"/>
          </a:xfrm>
          <a:prstGeom prst="rect">
            <a:avLst/>
          </a:prstGeom>
          <a:solidFill>
            <a:srgbClr val="D6EAF8"/>
          </a:solidFill>
          <a:ln w="12700">
            <a:solidFill>
              <a:srgbClr val="4DA6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2920" y="39136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</a:rPr>
              <a:t>IP Admits ATT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" y="41788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−0.030/member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02920" y="4526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p &lt; 0.0001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46120" y="3840480"/>
            <a:ext cx="2697480" cy="1005840"/>
          </a:xfrm>
          <a:prstGeom prst="rect">
            <a:avLst/>
          </a:prstGeom>
          <a:solidFill>
            <a:srgbClr val="D6EAF8"/>
          </a:solidFill>
          <a:ln w="12700">
            <a:solidFill>
              <a:srgbClr val="4DA6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83280" y="39136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</a:rPr>
              <a:t>ED Visits ATT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383280" y="41788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−0.110/member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383280" y="4526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p &lt; 0.0001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126480" y="3840480"/>
            <a:ext cx="2697480" cy="1005840"/>
          </a:xfrm>
          <a:prstGeom prst="rect">
            <a:avLst/>
          </a:prstGeom>
          <a:solidFill>
            <a:srgbClr val="D6EAF8"/>
          </a:solidFill>
          <a:ln w="12700">
            <a:solidFill>
              <a:srgbClr val="4DA6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263640" y="39136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</a:rPr>
              <a:t>Parallel Trends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263640" y="41788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6B3C"/>
                </a:solidFill>
              </a:rPr>
              <a:t>p = 0.582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263640" y="4526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Assumption holds ✓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Robustness: PSM Sensitivity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4DA6C8"/>
          </a:solidFill>
          <a:ln w="12700">
            <a:solidFill>
              <a:srgbClr val="4DA6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1024128"/>
            <a:ext cx="512064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4DA6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103120" y="120700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DiD  −$391.31  ≈  PSM  −$392.43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10312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B3C8"/>
                </a:solidFill>
              </a:rPr>
              <a:t>Estimates converge within $1.12 on a 50,000-person cohort  →  robust, unbiased causal estimate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192024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852928"/>
            <a:ext cx="192024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24,979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3290011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AF8"/>
                </a:solidFill>
              </a:rPr>
              <a:t>Matched pairs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42032" y="2743200"/>
            <a:ext cx="1920240" cy="1051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42032" y="2852928"/>
            <a:ext cx="192024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0.000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42032" y="3290011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AF8"/>
                </a:solidFill>
              </a:rPr>
              <a:t>Post-match SMD (age)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18304" y="2743200"/>
            <a:ext cx="1920240" cy="10515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18304" y="2852928"/>
            <a:ext cx="192024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0.05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718304" y="3290011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AF8"/>
                </a:solidFill>
              </a:rPr>
              <a:t>Caliper width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94576" y="2743200"/>
            <a:ext cx="1920240" cy="10515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94576" y="2852928"/>
            <a:ext cx="192024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&lt; 0.0001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894576" y="3290011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AF8"/>
                </a:solidFill>
              </a:rPr>
              <a:t>PSM p-value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8412480" cy="978408"/>
          </a:xfrm>
          <a:prstGeom prst="rect">
            <a:avLst/>
          </a:prstGeom>
          <a:solidFill>
            <a:srgbClr val="D6EAF8"/>
          </a:solidFill>
          <a:ln w="12700">
            <a:solidFill>
              <a:srgbClr val="4DA6C8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69080"/>
            <a:ext cx="320040" cy="3200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14400" y="40050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Why convergence matters: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14400" y="427024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DiD and PSM rest on different identification assumptions. DiD requires parallel trends; PSM requires no unmeasured confounding conditional on observables. When both approaches yield the same estimate, it provides strong evidence that neither set of assumptions is being violated — and that the $391/member cost reduction is a genuine causal effect, not an artefact of the estimation method.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Most? Heterogeneous Treatment Effects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4DA6C8"/>
          </a:solidFill>
          <a:ln w="12700">
            <a:solidFill>
              <a:srgbClr val="4DA6C8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005840"/>
            <a:ext cx="3063240" cy="1207008"/>
          </a:xfrm>
          <a:prstGeom prst="rect">
            <a:avLst/>
          </a:prstGeom>
          <a:solidFill>
            <a:srgbClr val="D6EAF8"/>
          </a:solidFill>
          <a:ln w="12700">
            <a:solidFill>
              <a:srgbClr val="4DA6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69280" y="1005840"/>
            <a:ext cx="64008" cy="1207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06440" y="10607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Clinical logic confirmed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806440" y="135331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High-risk patients (CHF, multi-morbidity, ESRD) benefit 6× more per-member than low-risk — consistent with care coordination reducing avoidable hospitalisations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669280" y="2377440"/>
            <a:ext cx="3063240" cy="1207008"/>
          </a:xfrm>
          <a:prstGeom prst="rect">
            <a:avLst/>
          </a:prstGeom>
          <a:solidFill>
            <a:srgbClr val="D6EAF8"/>
          </a:solidFill>
          <a:ln w="12700">
            <a:solidFill>
              <a:srgbClr val="4DA6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2377440"/>
            <a:ext cx="64008" cy="1207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6440" y="24323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Resource allocation signal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806440" y="272491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Concentrating care management resources on the top 20% high-risk population captures ~60% of total achievable savings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0" y="3749040"/>
            <a:ext cx="3063240" cy="1207008"/>
          </a:xfrm>
          <a:prstGeom prst="rect">
            <a:avLst/>
          </a:prstGeom>
          <a:solidFill>
            <a:srgbClr val="D6EAF8"/>
          </a:solidFill>
          <a:ln w="12700">
            <a:solidFill>
              <a:srgbClr val="4DA6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69280" y="3749040"/>
            <a:ext cx="64008" cy="1207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06440" y="38039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Benchmarking implication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806440" y="409651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If your intervention arm is disproportionately high-risk, unadjusted comparisons will understate the true savings rate — RAF adjustment is essential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65760" y="42976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FB3C8"/>
                </a:solidFill>
              </a:rPr>
              <a:t>All tier-stratified ATT estimates statistically significant at p &lt; 0.0001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9DFBF"/>
                </a:solidFill>
              </a:rPr>
              <a:t>STAGE 4 · SHARED SAVINGS PROJECTION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685800"/>
          </a:xfrm>
          <a:prstGeom prst="rect">
            <a:avLst/>
          </a:prstGeom>
          <a:solidFill>
            <a:srgbClr val="2C3E50"/>
          </a:solidFill>
          <a:ln w="12700">
            <a:solidFill>
              <a:srgbClr val="4DA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0700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Gross Savings = (Benchmark PMPM − Actual PMPM) × N Attributed Lives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93192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993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Benchmark PMPM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$9,800.00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08960" y="21214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B3C8"/>
                </a:solidFill>
              </a:rPr>
              <a:t>CMS risk-adjusted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670048"/>
            <a:ext cx="393192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2743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Actual PMPM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" y="29626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$9,408.69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08960" y="287121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B3C8"/>
                </a:solidFill>
              </a:rPr>
              <a:t>post-intervention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419856"/>
            <a:ext cx="393192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" y="3493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Savings/member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" y="3712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$391.31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108960" y="36210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B3C8"/>
                </a:solidFill>
              </a:rPr>
              <a:t>ATT from DiD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920240"/>
            <a:ext cx="393192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28032" y="1993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Attributed lives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28032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24,979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0" y="21214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B3C8"/>
                </a:solidFill>
              </a:rPr>
              <a:t>intervention arm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2670048"/>
            <a:ext cx="393192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28032" y="2743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Gross savings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28032" y="29626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$9,774,532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0" y="287121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B3C8"/>
                </a:solidFill>
              </a:rPr>
              <a:t>4.0% savings rate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3419856"/>
            <a:ext cx="393192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28032" y="3493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Sharing rate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28032" y="3712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50%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15200" y="36210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B3C8"/>
                </a:solidFill>
              </a:rPr>
              <a:t>MSSP basic track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828800" y="4224528"/>
            <a:ext cx="5486400" cy="658368"/>
          </a:xfrm>
          <a:prstGeom prst="rect">
            <a:avLst/>
          </a:prstGeom>
          <a:solidFill>
            <a:srgbClr val="1A6B3C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828800" y="4261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A9DFBF"/>
                </a:solidFill>
              </a:rPr>
              <a:t>SHARED SAVINGS EARNED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828800" y="44805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$4,887,266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5720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FB3C8"/>
                </a:solidFill>
              </a:rPr>
              <a:t>MSR threshold (2%): Exceeded  ·  Savings rate: 4.0%  ·  MSSP Basic Track assumptions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Dashboard: End-to-End Pipeline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4DA6C8"/>
          </a:solidFill>
          <a:ln w="12700">
            <a:solidFill>
              <a:srgbClr val="4DA6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1993392" cy="11704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15568"/>
            <a:ext cx="1993392" cy="561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50,000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1614465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AF8"/>
                </a:solidFill>
              </a:rPr>
              <a:t>Beneficiaries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96312" y="1005840"/>
            <a:ext cx="1993392" cy="1170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96312" y="1115568"/>
            <a:ext cx="1993392" cy="561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2.131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96312" y="1614465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AF8"/>
                </a:solidFill>
              </a:rPr>
              <a:t>Mean RAF Score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72584" y="1005840"/>
            <a:ext cx="1993392" cy="117043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72584" y="1115568"/>
            <a:ext cx="1993392" cy="561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91.5%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72584" y="1614465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AF8"/>
                </a:solidFill>
              </a:rPr>
              <a:t>Tier Accuracy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48856" y="1005840"/>
            <a:ext cx="1993392" cy="1170432"/>
          </a:xfrm>
          <a:prstGeom prst="rect">
            <a:avLst/>
          </a:prstGeom>
          <a:solidFill>
            <a:srgbClr val="2C7873"/>
          </a:solidFill>
          <a:ln w="12700">
            <a:solidFill>
              <a:srgbClr val="2C78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48856" y="1115568"/>
            <a:ext cx="1993392" cy="561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$2,181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848856" y="1614465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AF8"/>
                </a:solidFill>
              </a:rPr>
              <a:t>Cost MAE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359152"/>
            <a:ext cx="1993392" cy="1170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2468880"/>
            <a:ext cx="1993392" cy="561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−$391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20040" y="2967777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AF8"/>
                </a:solidFill>
              </a:rPr>
              <a:t>ATT per Member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96312" y="2359152"/>
            <a:ext cx="1993392" cy="11704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96312" y="2468880"/>
            <a:ext cx="1993392" cy="561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p&lt;0.0001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2496312" y="2967777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AF8"/>
                </a:solidFill>
              </a:rPr>
              <a:t>DiD p-value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72584" y="2359152"/>
            <a:ext cx="1993392" cy="1170432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72584" y="2468880"/>
            <a:ext cx="1993392" cy="561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$9.77M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4672584" y="2967777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AF8"/>
                </a:solidFill>
              </a:rPr>
              <a:t>Gross Savings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48856" y="2359152"/>
            <a:ext cx="1993392" cy="1170432"/>
          </a:xfrm>
          <a:prstGeom prst="rect">
            <a:avLst/>
          </a:prstGeom>
          <a:solidFill>
            <a:srgbClr val="8B2500"/>
          </a:solidFill>
          <a:ln w="12700">
            <a:solidFill>
              <a:srgbClr val="8B2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48856" y="2468880"/>
            <a:ext cx="1993392" cy="561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$4.89M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848856" y="2967777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AF8"/>
                </a:solidFill>
              </a:rPr>
              <a:t>Shared Savings Earned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0" y="3566160"/>
            <a:ext cx="274320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4DA6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00400" y="3593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⚡  Runtime: 29 seconds  ·  100,000 bene-year records  ·  4 analytical stages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0040" y="404164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All results validated: DiD and PSM convergent within $1.12  ·  Parallel trends p=0.582  ·  Post-match SMD=0.000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389120"/>
            <a:ext cx="141732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4622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(50k)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892808" y="446227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A6C8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167128" y="4389120"/>
            <a:ext cx="1417320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67128" y="44622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HCC/RAF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02736" y="446227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A6C8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877056" y="4389120"/>
            <a:ext cx="1417320" cy="43891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77056" y="44622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XGBoost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12664" y="446227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A6C8"/>
                </a:solidFill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586984" y="4389120"/>
            <a:ext cx="1417320" cy="43891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86984" y="44622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DiD/PSM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022592" y="446227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A6C8"/>
                </a:solidFill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296912" y="4389120"/>
            <a:ext cx="1417320" cy="43891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96912" y="44622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Savings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B3C8"/>
                </a:solidFill>
              </a:rPr>
              <a:t>FROM PROTOTYPE TO PRODUCTION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2697480" cy="1572768"/>
          </a:xfrm>
          <a:prstGeom prst="rect">
            <a:avLst/>
          </a:prstGeom>
          <a:solidFill>
            <a:srgbClr val="2C3E50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98448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3167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A6C8"/>
                </a:solidFill>
              </a:rPr>
              <a:t>Full HCC Map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30352" y="1773936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3C8"/>
                </a:solidFill>
              </a:rPr>
              <a:t>~9,000 ICD-10 codes across 86 HCC categories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B3C8"/>
                </a:solidFill>
              </a:rPr>
              <a:t>(v28 complete). Real Part A, B, D claims data.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73552" y="1115568"/>
            <a:ext cx="2697480" cy="1572768"/>
          </a:xfrm>
          <a:prstGeom prst="rect">
            <a:avLst/>
          </a:prstGeom>
          <a:solidFill>
            <a:srgbClr val="2C3E50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44" y="129844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67912" y="13167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A6C8"/>
                </a:solidFill>
              </a:rPr>
              <a:t>HIPAA Infrastructure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438144" y="1773936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3C8"/>
                </a:solidFill>
              </a:rPr>
              <a:t>PHI de-identification, BAA, audit logging,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B3C8"/>
                </a:solidFill>
              </a:rPr>
              <a:t>SOC 2 compliance for claims data access.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181344" y="1115568"/>
            <a:ext cx="2697480" cy="1572768"/>
          </a:xfrm>
          <a:prstGeom prst="rect">
            <a:avLst/>
          </a:prstGeom>
          <a:solidFill>
            <a:srgbClr val="2C3E50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298448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75704" y="13167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A6C8"/>
                </a:solidFill>
              </a:rPr>
              <a:t>Model Governance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345936" y="1773936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3C8"/>
                </a:solidFill>
              </a:rPr>
              <a:t>Feature drift monitoring, scheduled retraining,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B3C8"/>
                </a:solidFill>
              </a:rPr>
              <a:t>SHAP explainability layer for clinical users.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365760" y="2926080"/>
            <a:ext cx="2697480" cy="1572768"/>
          </a:xfrm>
          <a:prstGeom prst="rect">
            <a:avLst/>
          </a:prstGeom>
          <a:solidFill>
            <a:srgbClr val="2C3E50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108960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60120" y="31272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A6C8"/>
                </a:solidFill>
              </a:rPr>
              <a:t>Scale &amp; Orchestration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30352" y="3584448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3C8"/>
                </a:solidFill>
              </a:rPr>
              <a:t>Distributed compute (Spark/Dask) for multi-million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B3C8"/>
                </a:solidFill>
              </a:rPr>
              <a:t>bene populations. dbt + Airflow pipelines.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3273552" y="2926080"/>
            <a:ext cx="2697480" cy="1572768"/>
          </a:xfrm>
          <a:prstGeom prst="rect">
            <a:avLst/>
          </a:prstGeom>
          <a:solidFill>
            <a:srgbClr val="2C3E50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144" y="3108960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67912" y="31272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A6C8"/>
                </a:solidFill>
              </a:rPr>
              <a:t>Advanced Causal Methods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3438144" y="3584448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3C8"/>
                </a:solidFill>
              </a:rPr>
              <a:t>RDD / synthetic control for settings without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B3C8"/>
                </a:solidFill>
              </a:rPr>
              <a:t>clean pre/post. ITS for rolling programmes.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6181344" y="2926080"/>
            <a:ext cx="2697480" cy="1572768"/>
          </a:xfrm>
          <a:prstGeom prst="rect">
            <a:avLst/>
          </a:prstGeom>
          <a:solidFill>
            <a:srgbClr val="2C3E50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3108960"/>
            <a:ext cx="347472" cy="34747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75704" y="31272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A6C8"/>
                </a:solidFill>
              </a:rPr>
              <a:t>Real-Time Scoring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6345936" y="3584448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3C8"/>
                </a:solidFill>
              </a:rPr>
              <a:t>API serving for RAF and risk scores.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B3C8"/>
                </a:solidFill>
              </a:rPr>
              <a:t>Streaming updates as new claims arrive.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DA6C8"/>
          </a:solidFill>
          <a:ln w="12700">
            <a:solidFill>
              <a:srgbClr val="4DA6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Author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4DA6C8"/>
          </a:solidFill>
          <a:ln w="12700">
            <a:solidFill>
              <a:srgbClr val="4DA6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4114800" cy="566928"/>
          </a:xfrm>
          <a:prstGeom prst="rect">
            <a:avLst/>
          </a:prstGeom>
          <a:solidFill>
            <a:srgbClr val="2C3E50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97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A6C8"/>
                </a:solidFill>
              </a:rPr>
              <a:t>PhD Epidemiology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40280" y="111556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3C8"/>
                </a:solidFill>
              </a:rPr>
              <a:t>Jomo Kenyatta University of Agriculture &amp; Technology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709928"/>
            <a:ext cx="4114800" cy="566928"/>
          </a:xfrm>
          <a:prstGeom prst="rect">
            <a:avLst/>
          </a:prstGeom>
          <a:solidFill>
            <a:srgbClr val="2C3E50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7556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A6C8"/>
                </a:solidFill>
              </a:rPr>
              <a:t>17+ years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40280" y="177393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3C8"/>
                </a:solidFill>
              </a:rPr>
              <a:t>Global health analytics, causal inference, clinical performance measurement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368296"/>
            <a:ext cx="4114800" cy="566928"/>
          </a:xfrm>
          <a:prstGeom prst="rect">
            <a:avLst/>
          </a:prstGeom>
          <a:solidFill>
            <a:srgbClr val="2C3E50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4140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A6C8"/>
                </a:solidFill>
              </a:rPr>
              <a:t>30+ publications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40280" y="243230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3C8"/>
                </a:solidFill>
              </a:rPr>
              <a:t>The Lancet Global Health, Implementation Science — h-index 10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026664"/>
            <a:ext cx="4114800" cy="566928"/>
          </a:xfrm>
          <a:prstGeom prst="rect">
            <a:avLst/>
          </a:prstGeom>
          <a:solidFill>
            <a:srgbClr val="2C3E50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07238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A6C8"/>
                </a:solidFill>
              </a:rPr>
              <a:t>$35M+ funding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40280" y="309067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3C8"/>
                </a:solidFill>
              </a:rPr>
              <a:t>Research portfolio secured across career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685032"/>
            <a:ext cx="4114800" cy="566928"/>
          </a:xfrm>
          <a:prstGeom prst="rect">
            <a:avLst/>
          </a:prstGeom>
          <a:solidFill>
            <a:srgbClr val="2C3E50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37307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A6C8"/>
                </a:solidFill>
              </a:rPr>
              <a:t>8.5M lives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40280" y="374904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3C8"/>
                </a:solidFill>
              </a:rPr>
              <a:t>Analytics infrastructure serving beneficiaries across 13 African countries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343400"/>
            <a:ext cx="4114800" cy="566928"/>
          </a:xfrm>
          <a:prstGeom prst="rect">
            <a:avLst/>
          </a:prstGeom>
          <a:solidFill>
            <a:srgbClr val="2C3E50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4389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A6C8"/>
                </a:solidFill>
              </a:rPr>
              <a:t>WES evaluated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240280" y="44074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3C8"/>
                </a:solidFill>
              </a:rPr>
              <a:t>Degrees equivalent to US regionally accredited institutions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46320" y="1024128"/>
            <a:ext cx="3840480" cy="3794760"/>
          </a:xfrm>
          <a:prstGeom prst="rect">
            <a:avLst/>
          </a:prstGeom>
          <a:solidFill>
            <a:srgbClr val="065A82"/>
          </a:solidFill>
          <a:ln w="12700">
            <a:solidFill>
              <a:srgbClr val="4DA6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0" y="11155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A6C8"/>
                </a:solidFill>
              </a:rPr>
              <a:t>Core Competencies</a:t>
            </a:r>
            <a:endParaRPr lang="en-US" sz="12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572768"/>
            <a:ext cx="182880" cy="1828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193792" y="15544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Causal Inference: PSM · IPW · DiD · ITS · RDD</a:t>
            </a:r>
            <a:endParaRPr lang="en-US" sz="10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93392"/>
            <a:ext cx="182880" cy="18288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193792" y="197510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Clinical Risk Modeling: HCC/RAF · Risk Stratification</a:t>
            </a:r>
            <a:endParaRPr lang="en-US" sz="10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414016"/>
            <a:ext cx="182880" cy="18288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193792" y="239572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Financial Analytics: PMPM · Shared Savings · CEA</a:t>
            </a:r>
            <a:endParaRPr lang="en-US" sz="10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834640"/>
            <a:ext cx="182880" cy="1828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193792" y="281635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ML Production: Python · R · XGBoost · SageMaker</a:t>
            </a:r>
            <a:endParaRPr lang="en-US" sz="10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255264"/>
            <a:ext cx="182880" cy="18288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193792" y="323697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Healthcare Data: CMS Claims · EHR · SDOH</a:t>
            </a:r>
            <a:endParaRPr lang="en-US" sz="10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675888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193792" y="36576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</a:rPr>
              <a:t>Executive Influence: C-Suite · 30+ Publications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502920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A6C8"/>
                </a:solidFill>
              </a:rPr>
              <a:t>github.com/erickyegon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5029200" y="43616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A6C8"/>
                </a:solidFill>
              </a:rPr>
              <a:t>linkedin.com/in/erickyegon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3C8"/>
                </a:solidFill>
              </a:rPr>
              <a:t>Medicare Clinical Performance Analytics Pipeline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931920" cy="1508760"/>
          </a:xfrm>
          <a:prstGeom prst="rect">
            <a:avLst/>
          </a:prstGeom>
          <a:solidFill>
            <a:srgbClr val="2C3E50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475488" cy="1508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7568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6002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 adjustment is the foundation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9659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3C8"/>
                </a:solidFill>
              </a:rPr>
              <a:t>Accurate HCC/RAF scoring is a prerequisite for any meaningful shared savings calculation. Without it, benchmarks are arbitrary and attribution is meaningless.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0600" y="1508760"/>
            <a:ext cx="3931920" cy="1508760"/>
          </a:xfrm>
          <a:prstGeom prst="rect">
            <a:avLst/>
          </a:prstGeom>
          <a:solidFill>
            <a:srgbClr val="2C3E50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508760"/>
            <a:ext cx="475488" cy="1508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07568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94960" y="16002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Causal inference, not correlation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19659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3C8"/>
                </a:solidFill>
              </a:rPr>
              <a:t>DiD ATT −$391/member (p&lt;0.0001), PSM convergent at −$392. The finding is robust across identification strategies — this is a genuine cost reduction, not a selection artefact.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227832"/>
            <a:ext cx="3931920" cy="1508760"/>
          </a:xfrm>
          <a:prstGeom prst="rect">
            <a:avLst/>
          </a:prstGeom>
          <a:solidFill>
            <a:srgbClr val="2C3E50"/>
          </a:solidFill>
          <a:ln w="1270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27832"/>
            <a:ext cx="475488" cy="15087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9476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1560" y="33192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$4.9M in actionable shared savings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368503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3C8"/>
                </a:solidFill>
              </a:rPr>
              <a:t>4.0% savings rate on 25k attributed lives exceeds the MSSP minimum savings rate threshold, generating $4.87M in shared savings under standard 50% track assumptions.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3227832"/>
            <a:ext cx="3931920" cy="1508760"/>
          </a:xfrm>
          <a:prstGeom prst="rect">
            <a:avLst/>
          </a:prstGeom>
          <a:solidFill>
            <a:srgbClr val="2C3E50"/>
          </a:solidFill>
          <a:ln w="12700">
            <a:solidFill>
              <a:srgbClr val="8B2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3227832"/>
            <a:ext cx="475488" cy="1508760"/>
          </a:xfrm>
          <a:prstGeom prst="rect">
            <a:avLst/>
          </a:prstGeom>
          <a:solidFill>
            <a:srgbClr val="8B2500"/>
          </a:solidFill>
          <a:ln w="12700">
            <a:solidFill>
              <a:srgbClr val="8B2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79476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94960" y="33192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High-risk patients are the highest-leverage target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368503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3C8"/>
                </a:solidFill>
              </a:rPr>
              <a:t>Heterogeneous treatment effects show 6× larger savings per member in the high-risk tier. Care management resources concentrated here maximise ACO performance.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7293"/>
                </a:solidFill>
              </a:rPr>
              <a:t>github.com/erickyegon/medicare-raf-prototypes  ·  Erick K. Yegon, PhD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Medicare Clinical Performance Analytics</dc:title>
  <dc:subject>HCC/RAF · Risk Stratification · Shared Savings Attribution</dc:subject>
  <dc:creator>Erick K. Yegon, PhD</dc:creator>
  <cp:lastModifiedBy>Erick K. Yegon, PhD</cp:lastModifiedBy>
  <cp:revision>1</cp:revision>
  <dcterms:created xsi:type="dcterms:W3CDTF">2026-03-04T19:36:04Z</dcterms:created>
  <dcterms:modified xsi:type="dcterms:W3CDTF">2026-03-04T19:36:04Z</dcterms:modified>
</cp:coreProperties>
</file>